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FEE617-9B0A-4E54-8145-82E5CB386C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381F70-8ACF-49E3-ACDD-171B69ED4C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4C7022-20E5-4796-8B0A-D6D076723D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7FA262-9399-4DC5-B78B-DFF4819E19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D8726E-9D2D-4971-BEA7-0452AF4763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E1B8A3-E199-4A84-A4C9-A5EBDAB8AD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00DE48-45B5-455F-B50D-1BF1F4E199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44CED5-6D98-4453-BC4C-904720B703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0B3E05-3D89-44FA-B34A-D466F7A302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0A536-0D03-460B-BE75-466030F399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0FCDF-DF7D-43B6-956F-9898003F37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D94CC7-31BB-46E1-948A-6DA0E7A160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</a:t>
            </a:r>
            <a:r>
              <a:rPr b="0" lang="en-IN" sz="3200" spc="-1" strike="noStrike">
                <a:latin typeface="Arial"/>
              </a:rPr>
              <a:t>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</a:t>
            </a:r>
            <a:r>
              <a:rPr b="0" lang="en-IN" sz="2000" spc="-1" strike="noStrike">
                <a:latin typeface="Arial"/>
              </a:rPr>
              <a:t>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</a:t>
            </a:r>
            <a:r>
              <a:rPr b="0" lang="en-IN" sz="2000" spc="-1" strike="noStrike">
                <a:latin typeface="Arial"/>
              </a:rPr>
              <a:t>Outline </a:t>
            </a:r>
            <a:r>
              <a:rPr b="0" lang="en-IN" sz="2000" spc="-1" strike="noStrike">
                <a:latin typeface="Arial"/>
              </a:rPr>
              <a:t>Level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136CA6D-E0A6-4B27-AB33-B4682E135F61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4500000" y="5220000"/>
            <a:ext cx="540000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900" spc="-1" strike="noStrike">
                <a:latin typeface="Arial"/>
              </a:rPr>
              <a:t>Fig:</a:t>
            </a:r>
            <a:r>
              <a:rPr b="0" lang="en-IN" sz="800" spc="-1" strike="noStrike">
                <a:latin typeface="Arial"/>
              </a:rPr>
              <a:t>Evaporation</a:t>
            </a:r>
            <a:r>
              <a:rPr b="0" lang="en-IN" sz="900" spc="-1" strike="noStrike">
                <a:latin typeface="Arial"/>
              </a:rPr>
              <a:t> of </a:t>
            </a:r>
            <a:r>
              <a:rPr b="0" lang="en-IN" sz="900" spc="-1" strike="noStrike">
                <a:latin typeface="Arial"/>
              </a:rPr>
              <a:t>squeezed water </a:t>
            </a:r>
            <a:r>
              <a:rPr b="0" lang="en-IN" sz="900" spc="-1" strike="noStrike">
                <a:latin typeface="Arial"/>
              </a:rPr>
              <a:t>droplets between two </a:t>
            </a:r>
            <a:r>
              <a:rPr b="0" lang="en-IN" sz="900" spc="-1" strike="noStrike">
                <a:latin typeface="Arial"/>
              </a:rPr>
              <a:t>parallel </a:t>
            </a:r>
            <a:r>
              <a:rPr b="0" lang="en-IN" sz="900" spc="-1" strike="noStrike">
                <a:latin typeface="Arial"/>
              </a:rPr>
              <a:t>hydrophobic/superhydr</a:t>
            </a:r>
            <a:r>
              <a:rPr b="0" lang="en-IN" sz="900" spc="-1" strike="noStrike">
                <a:latin typeface="Arial"/>
              </a:rPr>
              <a:t>ophobic surfaces,Xukun </a:t>
            </a:r>
            <a:r>
              <a:rPr b="0" lang="en-IN" sz="900" spc="-1" strike="noStrike">
                <a:latin typeface="Arial"/>
              </a:rPr>
              <a:t>He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Dr</a:t>
            </a:r>
            <a:r>
              <a:rPr b="0" lang="en-IN" sz="4400" spc="-1" strike="noStrike">
                <a:latin typeface="Arial"/>
              </a:rPr>
              <a:t>opl</a:t>
            </a:r>
            <a:r>
              <a:rPr b="0" lang="en-IN" sz="4400" spc="-1" strike="noStrike">
                <a:latin typeface="Arial"/>
              </a:rPr>
              <a:t>et </a:t>
            </a:r>
            <a:r>
              <a:rPr b="0" lang="en-IN" sz="4400" spc="-1" strike="noStrike">
                <a:latin typeface="Arial"/>
              </a:rPr>
              <a:t>Co</a:t>
            </a:r>
            <a:r>
              <a:rPr b="0" lang="en-IN" sz="4400" spc="-1" strike="noStrike">
                <a:latin typeface="Arial"/>
              </a:rPr>
              <a:t>nfi</a:t>
            </a:r>
            <a:r>
              <a:rPr b="0" lang="en-IN" sz="4400" spc="-1" strike="noStrike">
                <a:latin typeface="Arial"/>
              </a:rPr>
              <a:t>ne</a:t>
            </a:r>
            <a:r>
              <a:rPr b="0" lang="en-IN" sz="4400" spc="-1" strike="noStrike">
                <a:latin typeface="Arial"/>
              </a:rPr>
              <a:t>d </a:t>
            </a:r>
            <a:r>
              <a:rPr b="0" lang="en-IN" sz="4400" spc="-1" strike="noStrike">
                <a:latin typeface="Arial"/>
              </a:rPr>
              <a:t>in </a:t>
            </a:r>
            <a:r>
              <a:rPr b="0" lang="en-IN" sz="4400" spc="-1" strike="noStrike">
                <a:latin typeface="Arial"/>
              </a:rPr>
              <a:t>par</a:t>
            </a:r>
            <a:r>
              <a:rPr b="0" lang="en-IN" sz="4400" spc="-1" strike="noStrike">
                <a:latin typeface="Arial"/>
              </a:rPr>
              <a:t>alle</a:t>
            </a:r>
            <a:r>
              <a:rPr b="0" lang="en-IN" sz="4400" spc="-1" strike="noStrike">
                <a:latin typeface="Arial"/>
              </a:rPr>
              <a:t>l </a:t>
            </a:r>
            <a:r>
              <a:rPr b="0" lang="en-IN" sz="4400" spc="-1" strike="noStrike">
                <a:latin typeface="Arial"/>
              </a:rPr>
              <a:t>pla</a:t>
            </a:r>
            <a:r>
              <a:rPr b="0" lang="en-IN" sz="4400" spc="-1" strike="noStrike">
                <a:latin typeface="Arial"/>
              </a:rPr>
              <a:t>te</a:t>
            </a:r>
            <a:endParaRPr b="0" lang="en-IN" sz="4400" spc="-1" strike="noStrike"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360000" y="1620000"/>
            <a:ext cx="4972680" cy="25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600" spc="-1" strike="noStrike">
                <a:latin typeface="Arial"/>
              </a:rPr>
              <a:t>Physics Modules used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3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Laminar Flow</a:t>
            </a:r>
            <a:endParaRPr b="0" lang="en-IN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500" spc="-1" strike="noStrike">
                <a:latin typeface="Arial"/>
              </a:rPr>
              <a:t>The Laminar Flow (spf) interface is used to </a:t>
            </a:r>
            <a:r>
              <a:rPr b="0" lang="en-IN" sz="1500" spc="-1" strike="noStrike">
                <a:latin typeface="Arial"/>
              </a:rPr>
              <a:t>compute the velocity and pressure fields </a:t>
            </a:r>
            <a:r>
              <a:rPr b="0" lang="en-IN" sz="1500" spc="-1" strike="noStrike">
                <a:latin typeface="Arial"/>
              </a:rPr>
              <a:t>for the flow of a single-phase fluid in the </a:t>
            </a:r>
            <a:r>
              <a:rPr b="0" lang="en-IN" sz="1500" spc="-1" strike="noStrike">
                <a:latin typeface="Arial"/>
              </a:rPr>
              <a:t>laminar flow regime</a:t>
            </a:r>
            <a:endParaRPr b="0" lang="en-IN" sz="15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500" spc="-1" strike="noStrike">
                <a:latin typeface="Arial"/>
              </a:rPr>
              <a:t>Wetted wall to pin the droplet at desirable </a:t>
            </a:r>
            <a:r>
              <a:rPr b="0" lang="en-IN" sz="1500" spc="-1" strike="noStrike">
                <a:latin typeface="Arial"/>
              </a:rPr>
              <a:t>CA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260000" y="3360600"/>
            <a:ext cx="3035520" cy="1139400"/>
          </a:xfrm>
          <a:prstGeom prst="rect">
            <a:avLst/>
          </a:prstGeom>
          <a:ln w="0">
            <a:noFill/>
          </a:ln>
        </p:spPr>
      </p:pic>
      <p:sp>
        <p:nvSpPr>
          <p:cNvPr id="47" name=""/>
          <p:cNvSpPr txBox="1"/>
          <p:nvPr/>
        </p:nvSpPr>
        <p:spPr>
          <a:xfrm>
            <a:off x="5040000" y="1326600"/>
            <a:ext cx="453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Level Set</a:t>
            </a:r>
            <a:endParaRPr b="0" lang="en-IN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500" spc="-1" strike="noStrike">
                <a:latin typeface="Arial"/>
              </a:rPr>
              <a:t>The level set method is a technique to </a:t>
            </a:r>
            <a:r>
              <a:rPr b="0" lang="en-IN" sz="1500" spc="-1" strike="noStrike">
                <a:latin typeface="Arial"/>
              </a:rPr>
              <a:t>represent moving interfaces or boundaries </a:t>
            </a:r>
            <a:r>
              <a:rPr b="0" lang="en-IN" sz="1500" spc="-1" strike="noStrike">
                <a:latin typeface="Arial"/>
              </a:rPr>
              <a:t>using a fixed mesh.</a:t>
            </a:r>
            <a:endParaRPr b="0" lang="en-IN" sz="15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500" spc="-1" strike="noStrike">
                <a:latin typeface="Arial"/>
              </a:rPr>
              <a:t>Allows for incorporation of mass flux at </a:t>
            </a:r>
            <a:r>
              <a:rPr b="0" lang="en-IN" sz="1500" spc="-1" strike="noStrike">
                <a:latin typeface="Arial"/>
              </a:rPr>
              <a:t>interface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6840000" y="3240000"/>
            <a:ext cx="1218960" cy="35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000" spc="-1" strike="noStrike">
                <a:latin typeface="Arial"/>
              </a:rPr>
              <a:t>Results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6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Studing the system at constant contact angle </a:t>
            </a:r>
            <a:r>
              <a:rPr b="0" lang="en-IN" sz="3200" spc="-1" strike="noStrike">
                <a:latin typeface="Arial"/>
              </a:rPr>
              <a:t>regime at various contact angles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1440000" y="1980000"/>
            <a:ext cx="3420000" cy="3420000"/>
          </a:xfrm>
          <a:prstGeom prst="rect">
            <a:avLst/>
          </a:prstGeom>
          <a:ln w="0">
            <a:noFill/>
          </a:ln>
        </p:spPr>
      </p:pic>
      <p:sp>
        <p:nvSpPr>
          <p:cNvPr id="52" name=""/>
          <p:cNvSpPr txBox="1"/>
          <p:nvPr/>
        </p:nvSpPr>
        <p:spPr>
          <a:xfrm>
            <a:off x="540000" y="2160000"/>
            <a:ext cx="27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At pi/6: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5580000" y="1980000"/>
            <a:ext cx="3420000" cy="342000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 txBox="1"/>
          <p:nvPr/>
        </p:nvSpPr>
        <p:spPr>
          <a:xfrm>
            <a:off x="1440000" y="4320000"/>
            <a:ext cx="1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t=0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760000" y="4320000"/>
            <a:ext cx="1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t=10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180000" y="180000"/>
            <a:ext cx="21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At pi/3: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180000" y="720000"/>
            <a:ext cx="4810320" cy="181368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5225040" y="709560"/>
            <a:ext cx="4810320" cy="1800000"/>
          </a:xfrm>
          <a:prstGeom prst="rect">
            <a:avLst/>
          </a:prstGeom>
          <a:ln w="0">
            <a:noFill/>
          </a:ln>
        </p:spPr>
      </p:pic>
      <p:sp>
        <p:nvSpPr>
          <p:cNvPr id="59" name=""/>
          <p:cNvSpPr txBox="1"/>
          <p:nvPr/>
        </p:nvSpPr>
        <p:spPr>
          <a:xfrm>
            <a:off x="180000" y="2700000"/>
            <a:ext cx="10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At 3pi/2: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3"/>
          <a:stretch/>
        </p:blipFill>
        <p:spPr>
          <a:xfrm>
            <a:off x="49680" y="3060000"/>
            <a:ext cx="2650320" cy="2470320"/>
          </a:xfrm>
          <a:prstGeom prst="rect">
            <a:avLst/>
          </a:prstGeom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4"/>
          <a:stretch/>
        </p:blipFill>
        <p:spPr>
          <a:xfrm>
            <a:off x="3175560" y="3054240"/>
            <a:ext cx="2520000" cy="2520000"/>
          </a:xfrm>
          <a:prstGeom prst="rect">
            <a:avLst/>
          </a:prstGeom>
          <a:ln w="0">
            <a:noFill/>
          </a:ln>
        </p:spPr>
      </p:pic>
      <p:pic>
        <p:nvPicPr>
          <p:cNvPr id="62" name="" descr=""/>
          <p:cNvPicPr/>
          <p:nvPr/>
        </p:nvPicPr>
        <p:blipFill>
          <a:blip r:embed="rId5"/>
          <a:stretch/>
        </p:blipFill>
        <p:spPr>
          <a:xfrm>
            <a:off x="6120000" y="3017520"/>
            <a:ext cx="2562480" cy="256248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180000" y="2353680"/>
            <a:ext cx="1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t=0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80000" y="4693680"/>
            <a:ext cx="1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t=0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220000" y="2533680"/>
            <a:ext cx="1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t=10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240000" y="4860000"/>
            <a:ext cx="1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t=10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120000" y="4873680"/>
            <a:ext cx="1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t=20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Results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Splitting of droplet at exterme contact angle, using finer mesh might prevent this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Droplet settle at expected position in the nominal cases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Gravity is neglected in the study, so the assymetry in the 3pi/2 case is unexpected 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200" spc="-1" strike="noStrike">
                <a:latin typeface="Arial"/>
              </a:rPr>
              <a:t>To do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latin typeface="Arial"/>
              </a:rPr>
              <a:t>Work on droplet splitting </a:t>
            </a:r>
            <a:endParaRPr b="0" lang="en-IN" sz="21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latin typeface="Arial"/>
              </a:rPr>
              <a:t>Velocity flow inside the droplet, could be tracked precisely using Particle tracking method</a:t>
            </a:r>
            <a:endParaRPr b="0" lang="en-IN" sz="21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latin typeface="Arial"/>
              </a:rPr>
              <a:t>Incorporate the mass flux at the interface and study the evolution of the droplet at various volume</a:t>
            </a:r>
            <a:endParaRPr b="0" lang="en-IN" sz="2100" spc="-1" strike="noStrike"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 rot="46200">
            <a:off x="5775840" y="2936160"/>
            <a:ext cx="3567960" cy="240084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 txBox="1"/>
          <p:nvPr/>
        </p:nvSpPr>
        <p:spPr>
          <a:xfrm>
            <a:off x="5400000" y="5358600"/>
            <a:ext cx="507600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900" spc="-1" strike="noStrike">
                <a:latin typeface="Arial"/>
              </a:rPr>
              <a:t>Fig 9:Numerical simulation of droplet evaporation between two </a:t>
            </a:r>
            <a:endParaRPr b="0" lang="en-IN" sz="900" spc="-1" strike="noStrike">
              <a:latin typeface="Arial"/>
            </a:endParaRPr>
          </a:p>
          <a:p>
            <a:r>
              <a:rPr b="0" lang="en-IN" sz="900" spc="-1" strike="noStrike">
                <a:latin typeface="Arial"/>
              </a:rPr>
              <a:t>circular plates† Hangjin Ban and Gihun Son*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2025-11-24T10:42:06Z</dcterms:created>
  <dc:creator/>
  <dc:description/>
  <dc:language>en-IN</dc:language>
  <cp:lastModifiedBy/>
  <dcterms:modified xsi:type="dcterms:W3CDTF">2025-11-24T11:39:57Z</dcterms:modified>
  <cp:revision>1</cp:revision>
  <dc:subject/>
  <dc:title/>
</cp:coreProperties>
</file>